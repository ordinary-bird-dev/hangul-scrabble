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2323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323232"/>
                </a:solidFill>
                <a:latin typeface="Calibri"/>
              </a:rPr>
              <a:t>Words per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words</c:v>
                </c:pt>
              </c:strCache>
            </c:strRef>
          </c:tx>
          <c:spPr>
            <a:solidFill>
              <a:srgbClr val="7CBF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2323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BF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6AE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D984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TOPIK 1</c:v>
                  </c:pt>
                  <c:pt idx="1">
                    <c:v>Set B</c:v>
                  </c:pt>
                  <c:pt idx="2">
                    <c:v>Set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894</c:v>
                </c:pt>
                <c:pt idx="1">
                  <c:v>2028</c:v>
                </c:pt>
                <c:pt idx="2">
                  <c:v>2786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2323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A6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  <c:min val="0"/>
        </c:scaling>
        <c:delete val="0"/>
        <c:axPos val="l"/>
        <c:majorGridlines>
          <c:spPr>
            <a:ln w="12700" cap="flat">
              <a:solidFill>
                <a:srgbClr val="EDEA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A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한글놀이 (Hangulnoree) — a Korean word game where players assemble words from individual jamo tiles. Three consonant and vowel pieces compose into one syllable block: ㅎ + ㅏ + ㄱ becomes 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in one line: it is a puzzle first, and the teaching is a side effect of playing it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competitive angle. Duolingo and Anki teach recognition; this teaches construction, which is what actually unlocks reading unfamiliar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Hangul is uniquely suited to this. Unlike Latin script, Korean letters stack into square blocks with fixed slots — which maps perfectly onto a tile-and-slot puzzle.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stressing in a pitch: two taps became one. Tap-to-select then tap-a-slot was built, tested and removed because it doubled the interaction cost for no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is the on-ramp, Zen is the study tool, Word Hunt is the replayable one. A player typically starts in Classic and graduates to Word Hunt.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mode that makes the game usable by someone who knows no Korean at all. It is the answer to "how does a beginner not bounce off 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받침 (batchim) is the optional final consonant. Rewarding it pushes players toward complete three-part blocks rather than the easy two-part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sleep behaviour is the one people remember in demos. It makes the game feel like it is paying attention to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894 + 2,111 + 2,872 entries load; 5,543 are unique once overlaps are removed. The TOPIK Level 1 gloss wins where sets share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composition point matters commercially: adding a vocabulary pack is a JSON file, not an art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column one is built and playable today. Column two is what stands between the current build and a store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놀이 (nori) means "play". The name literally reads "Hangul play".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한글놀이</a:t>
            </a:r>
            <a:endParaRPr lang="en-US" sz="7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3101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A N G U L N O R E 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886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Korean words from their smallest pieces.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Bird  ·  September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366760" y="21488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7CBF4F"/>
          </a:solidFill>
          <a:ln w="12700">
            <a:solidFill>
              <a:srgbClr val="7CBF4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36676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3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9509760" y="21488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56AEC9"/>
          </a:solidFill>
          <a:ln w="12700">
            <a:solidFill>
              <a:srgbClr val="56AE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50976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10652760" y="21488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7CBF4F"/>
          </a:solidFill>
          <a:ln w="12700">
            <a:solidFill>
              <a:srgbClr val="7CBF4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65276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3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509760" y="37947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509760" y="3794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232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puzzle that teaches the alphabet as you play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are dealt a tray of jamo — the individual consonants and vowels of the Korean alphabet — and tap them together into syllable blocks, then chain those blocks into real words. Every word played is a word learned, with its meaning and pronunciation.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B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5,543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4069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the dictionary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30175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6A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4069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0175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4069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one design system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06840" y="301752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35440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9253728" y="4069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knowledge required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play in the browser today; built for Android.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make you recognise. This one makes you build.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514600"/>
          </a:xfrm>
          <a:prstGeom prst="roundRect">
            <a:avLst>
              <a:gd name="adj" fmla="val 3636"/>
            </a:avLst>
          </a:prstGeom>
          <a:solidFill>
            <a:srgbClr val="F7F5E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 apps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word, ask you to recall 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Korean is a picture you memorise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knowledge stays optional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fades without review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0352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938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B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한글놀이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95728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you pieces, asks you to construct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place 초성, 중성 and 종성 yourself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alphabet is the mechanic, not a prerequisite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sticks the way recall does not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who finishes a round has physically assembled every word they scored.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MECHANIC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make one block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960120"/>
          </a:xfrm>
          <a:prstGeom prst="roundRect">
            <a:avLst>
              <a:gd name="adj" fmla="val 9524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38528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BF4F"/>
          </a:solidFill>
          <a:ln w="12700">
            <a:solidFill>
              <a:srgbClr val="7CBF4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9385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3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ㅎ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568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초성  Choseong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951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consonant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1122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53512"/>
            <a:ext cx="6858000" cy="960120"/>
          </a:xfrm>
          <a:prstGeom prst="roundRect">
            <a:avLst>
              <a:gd name="adj" fmla="val 9524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310896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56AEC9"/>
          </a:solidFill>
          <a:ln w="12700">
            <a:solidFill>
              <a:srgbClr val="56AE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" y="3108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ㅏ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127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중성  Jungseong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4655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282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required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6858000" cy="960120"/>
          </a:xfrm>
          <a:prstGeom prst="roundRect">
            <a:avLst>
              <a:gd name="adj" fmla="val 9524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279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BF4F"/>
          </a:solidFill>
          <a:ln w="12700">
            <a:solidFill>
              <a:srgbClr val="7CBF4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" y="4279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3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ㄱ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종성  Jongseong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6360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consonant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453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the 받침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38160" y="1783080"/>
            <a:ext cx="3383280" cy="3346704"/>
          </a:xfrm>
          <a:prstGeom prst="roundRect">
            <a:avLst>
              <a:gd name="adj" fmla="val 3279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72600" y="26517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37260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232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for "learning"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Consonants and vowels are disjoint sets, so the game always knows where a tapped piece belongs.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per letter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F7F5EF"/>
          </a:solidFill>
          <a:ln w="15875">
            <a:solidFill>
              <a:srgbClr val="FD984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1135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707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game screen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16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capture of GameScene mid-round — tray, syllable builder and word bar visible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1783080"/>
            <a:ext cx="457200" cy="457200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D98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7647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tile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1031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routes itself to the slot the syllable needs next. No selecting, no dragging.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2834640"/>
            <a:ext cx="457200" cy="457200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D98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8163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filled slot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154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letter retracts and its tile returns to the tray.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3886200"/>
            <a:ext cx="457200" cy="457200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D98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8679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syllable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4206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block slides up into the word bar.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4937760"/>
            <a:ext cx="457200" cy="457200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D98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9194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word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5257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dictionary — the meaning appears on success.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tap that does not fit bounces and keeps the tile — the player learns the rule without losing a piece.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play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7CBF4F"/>
          </a:solidFill>
          <a:ln w="12700">
            <a:solidFill>
              <a:srgbClr val="7CBF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871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1752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English clue names the word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tray holds exactly the right pieces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cost 50 points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6451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learners who want direction.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659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56AEC9"/>
          </a:solidFill>
          <a:ln w="12700">
            <a:solidFill>
              <a:srgbClr val="56AE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4871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01752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timer, no score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freely from a random tray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joins a running journal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Meanings and romanization shown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6451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learners who want to explore.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19659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FD984D"/>
          </a:solidFill>
          <a:ln w="12700">
            <a:solidFill>
              <a:srgbClr val="FD98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attack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4871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Hunt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01752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valid word scores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tray that refills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 for speed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64515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players chasing a number.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tray always holds the answer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 given a random pile of letters gets stuck and quits. Classic Mode deals exactly the jamo the target word needs, so the puzzle is always solvable — the challenge is knowing the word, not fighting the deal.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store; shop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01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401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ㄱ ㅏ ㄱ ㅔ — and nothing wasted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599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4059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"gage" for 50 points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183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47183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clued word scores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76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5376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Re-deals the same puzzle to try again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23760" y="1691640"/>
            <a:ext cx="4297680" cy="4160520"/>
          </a:xfrm>
          <a:prstGeom prst="roundRect">
            <a:avLst>
              <a:gd name="adj" fmla="val 2637"/>
            </a:avLst>
          </a:prstGeom>
          <a:solidFill>
            <a:srgbClr val="F7F5EF"/>
          </a:solidFill>
          <a:ln w="15875">
            <a:solidFill>
              <a:srgbClr val="FD984D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223760" y="31135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5707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Classic Mode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8816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GameScene with the clue banner and hint button visible — ideally mid-word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Rewarding the harder blocks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D8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syllables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D8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D8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4+ syllables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D8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Each 받침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154680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D8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Combo in 30s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154680"/>
            <a:ext cx="3429000" cy="1097280"/>
          </a:xfrm>
          <a:prstGeom prst="roundRect">
            <a:avLst>
              <a:gd name="adj" fmla="val 8333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3337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D8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Hint used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hint economy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2120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cost points and the score can only fall to −100. At the floor the hint button greys out rather than disappearing, so help stays visible but has to be spent deliberately.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monkey is the feedback layer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telling the player what happened in words, the game shows it. The mascot reacts to every tap, notices when attention drifts, and celebrates a finished round.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10896" cy="310896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tapped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reaction on every placement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310896" cy="310896"/>
          </a:xfrm>
          <a:prstGeom prst="ellipse">
            <a:avLst/>
          </a:prstGeom>
          <a:solidFill>
            <a:srgbClr val="56AE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273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seconds idle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2735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Curls up and falls asleep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32504"/>
            <a:ext cx="310896" cy="310896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986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Tapped while asleep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9867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up and carries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45736"/>
            <a:ext cx="310896" cy="310896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700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won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47000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Celebrates on the result screen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458968"/>
            <a:ext cx="310896" cy="310896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5413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lost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5413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sympathetic slump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80960" y="1691640"/>
            <a:ext cx="3840480" cy="4160520"/>
          </a:xfrm>
          <a:prstGeom prst="roundRect">
            <a:avLst>
              <a:gd name="adj" fmla="val 2857"/>
            </a:avLst>
          </a:prstGeom>
          <a:solidFill>
            <a:srgbClr val="F7F5EF"/>
          </a:solidFill>
          <a:ln w="15875">
            <a:solidFill>
              <a:srgbClr val="FD984D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680960" y="31135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5707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mascot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8816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monkey on the title or result screen — the sleep pose reads especially well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dictionary behind the puzzle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graded word sets load at startup. Every entry carries an English meaning, romanization, an example sentence and a syllable count — so a word can be clued, hinted, scored and explained from one record.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5,543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794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playable words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at TOPIK Level 1, the standard entry point for Korean proficiency. Word sets are registered by name, so difficulty scoping and future packs plug into the same seam.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12648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extended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6, URP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no third-party plugins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TextMeshPro with Noto Sans KR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57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514600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540 × 960, live on itch.io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is the release target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iOS possible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224A29"/>
          </a:solidFill>
          <a:ln w="12700">
            <a:solidFill>
              <a:srgbClr val="224A2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057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514600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composition from Unicode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scoring module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colour in a single palette file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Syllables are composed with the Unicode 0xAC00 formula rather than drawn as art, so any Korean word the dictionary contains is playable without new assets.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84832"/>
            <a:ext cx="566928" cy="566928"/>
          </a:xfrm>
          <a:prstGeom prst="ellipse">
            <a:avLst/>
          </a:prstGeom>
          <a:solidFill>
            <a:srgbClr val="7CBF4F"/>
          </a:solidFill>
          <a:ln w="12700">
            <a:solidFill>
              <a:srgbClr val="7CBF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82496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07792"/>
            <a:ext cx="2788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modes, six screens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vocabulary loaded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build live on itch.io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84832"/>
            <a:ext cx="566928" cy="566928"/>
          </a:xfrm>
          <a:prstGeom prst="ellipse">
            <a:avLst/>
          </a:prstGeom>
          <a:solidFill>
            <a:srgbClr val="FD984D"/>
          </a:solidFill>
          <a:ln w="12700">
            <a:solidFill>
              <a:srgbClr val="FD98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367528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385816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release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907792"/>
            <a:ext cx="2788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 with leaderboard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result cards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build and store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4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66760" y="2084832"/>
            <a:ext cx="566928" cy="566928"/>
          </a:xfrm>
          <a:prstGeom prst="ellipse">
            <a:avLst/>
          </a:prstGeom>
          <a:solidFill>
            <a:srgbClr val="56AEC9"/>
          </a:solidFill>
          <a:ln w="12700">
            <a:solidFill>
              <a:srgbClr val="56AE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70848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089136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v1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907792"/>
            <a:ext cx="2788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multiplayer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vowels ㅘ 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mode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2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release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한글놀이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4015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read Korean should feel like solving something,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78561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D9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like memorising something.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800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browser build  ·  itch.io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2303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Bird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0" y="2331720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7CBF4F"/>
          </a:solidFill>
          <a:ln w="12700">
            <a:solidFill>
              <a:srgbClr val="7CBF4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50392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3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829800" y="2331720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56AEC9"/>
          </a:solidFill>
          <a:ln w="12700">
            <a:solidFill>
              <a:srgbClr val="56AE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829800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503920" y="3657600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7CBF4F"/>
          </a:solidFill>
          <a:ln w="12700">
            <a:solidFill>
              <a:srgbClr val="7CBF4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03920" y="3657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37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829800" y="3657600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56AEC9"/>
          </a:solidFill>
          <a:ln w="12700">
            <a:solidFill>
              <a:srgbClr val="56AEC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829800" y="3657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1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Hangulnoree — Game Overview</dc:title>
  <dc:subject>PptxGenJS Presentation</dc:subject>
  <dc:creator>Ordinary Bird</dc:creator>
  <cp:lastModifiedBy>Ordinary Bird</cp:lastModifiedBy>
  <cp:revision>1</cp:revision>
  <dcterms:created xsi:type="dcterms:W3CDTF">2026-09-10T12:08:59Z</dcterms:created>
  <dcterms:modified xsi:type="dcterms:W3CDTF">2026-09-10T12:08:59Z</dcterms:modified>
</cp:coreProperties>
</file>